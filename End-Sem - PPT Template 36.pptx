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368" r:id="rId5"/>
    <p:sldId id="369" r:id="rId6"/>
    <p:sldId id="370" r:id="rId7"/>
    <p:sldId id="372" r:id="rId8"/>
    <p:sldId id="374" r:id="rId9"/>
    <p:sldId id="375" r:id="rId10"/>
    <p:sldId id="376" r:id="rId11"/>
    <p:sldId id="377" r:id="rId12"/>
    <p:sldId id="373" r:id="rId13"/>
    <p:sldId id="3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>
        <p:scale>
          <a:sx n="100" d="100"/>
          <a:sy n="100" d="100"/>
        </p:scale>
        <p:origin x="100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6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7030A0"/>
                </a:solidFill>
                <a:latin typeface="Verdana" panose="020B0804030504040204" pitchFamily="34" charset="0"/>
                <a:ea typeface="+mn-ea"/>
                <a:cs typeface="+mn-cs"/>
              </a:rPr>
              <a:t>A Deep Learning Framework for Translating Tamil Sign Language Gestures into Speech</a:t>
            </a:r>
            <a:endParaRPr lang="en-US" altLang="en-US" sz="4000" b="1" dirty="0">
              <a:solidFill>
                <a:srgbClr val="7030A0"/>
              </a:solidFill>
              <a:latin typeface="Verdana" panose="020B0804030504040204" pitchFamily="34" charset="0"/>
              <a:ea typeface="+mn-ea"/>
              <a:cs typeface="+mn-cs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962889" y="5183902"/>
            <a:ext cx="3429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IN" sz="2400" b="1" dirty="0" err="1">
                <a:solidFill>
                  <a:srgbClr val="FF0000"/>
                </a:solidFill>
                <a:sym typeface="+mn-ea"/>
              </a:rPr>
              <a:t>Dr. A</a:t>
            </a:r>
            <a:r>
              <a:rPr lang="en-IN" altLang="en-US" sz="2400" b="1" dirty="0" err="1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en-IN" sz="2400" b="1" dirty="0" err="1">
                <a:solidFill>
                  <a:srgbClr val="FF0000"/>
                </a:solidFill>
                <a:sym typeface="+mn-ea"/>
              </a:rPr>
              <a:t> BEULAH</a:t>
            </a:r>
            <a:endParaRPr lang="en-IN" altLang="en-US" sz="24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sym typeface="+mn-ea"/>
              </a:rPr>
              <a:t>ASST.PROFESSOR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6837680" y="4815205"/>
            <a:ext cx="499618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IN" sz="2400" b="1" dirty="0">
                <a:solidFill>
                  <a:srgbClr val="FF0000"/>
                </a:solidFill>
                <a:sym typeface="+mn-ea"/>
              </a:rPr>
              <a:t>NIKILESH S</a:t>
            </a:r>
            <a:r>
              <a:rPr lang="en-IN" altLang="en-US" sz="2400" b="1" dirty="0">
                <a:solidFill>
                  <a:srgbClr val="FF0000"/>
                </a:solidFill>
                <a:sym typeface="+mn-ea"/>
              </a:rPr>
              <a:t>-2218010</a:t>
            </a:r>
            <a:r>
              <a:rPr lang="en-US" altLang="en-IN" sz="2400" b="1" dirty="0">
                <a:solidFill>
                  <a:srgbClr val="FF0000"/>
                </a:solidFill>
                <a:sym typeface="+mn-ea"/>
              </a:rPr>
              <a:t>35</a:t>
            </a:r>
            <a:endParaRPr lang="en-IN" altLang="en-US" sz="24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IN" sz="2400" b="1" dirty="0">
                <a:solidFill>
                  <a:srgbClr val="FF0000"/>
                </a:solidFill>
                <a:sym typeface="+mn-ea"/>
              </a:rPr>
              <a:t>POONGAVIN B</a:t>
            </a:r>
            <a:r>
              <a:rPr lang="en-IN" altLang="en-US" sz="2400" b="1" dirty="0">
                <a:solidFill>
                  <a:srgbClr val="FF0000"/>
                </a:solidFill>
                <a:sym typeface="+mn-ea"/>
              </a:rPr>
              <a:t> -2218010</a:t>
            </a:r>
            <a:r>
              <a:rPr lang="en-US" altLang="en-IN" sz="2400" b="1" dirty="0">
                <a:solidFill>
                  <a:srgbClr val="FF0000"/>
                </a:solidFill>
                <a:sym typeface="+mn-ea"/>
              </a:rPr>
              <a:t>36</a:t>
            </a:r>
            <a:endParaRPr lang="en-IN" altLang="en-US" sz="24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IN" sz="2400" b="1" dirty="0">
                <a:solidFill>
                  <a:srgbClr val="FF0000"/>
                </a:solidFill>
                <a:sym typeface="+mn-ea"/>
              </a:rPr>
              <a:t>SUKISH M</a:t>
            </a:r>
            <a:r>
              <a:rPr lang="en-IN" altLang="en-US" sz="2400" b="1" dirty="0">
                <a:solidFill>
                  <a:srgbClr val="FF0000"/>
                </a:solidFill>
                <a:sym typeface="+mn-ea"/>
              </a:rPr>
              <a:t> -2218010</a:t>
            </a:r>
            <a:r>
              <a:rPr lang="en-US" altLang="en-IN" sz="2400" b="1" dirty="0">
                <a:solidFill>
                  <a:srgbClr val="FF0000"/>
                </a:solidFill>
                <a:sym typeface="+mn-ea"/>
              </a:rPr>
              <a:t>53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8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800" b="1" dirty="0">
                <a:solidFill>
                  <a:srgbClr val="002060"/>
                </a:solidFill>
                <a:latin typeface="Verdana" panose="020B0804030504040204" pitchFamily="34" charset="0"/>
                <a:ea typeface="+mn-ea"/>
                <a:cs typeface="+mn-cs"/>
              </a:rPr>
              <a:t> Artificial Intelligence and Data Science</a:t>
            </a:r>
            <a:r>
              <a:rPr lang="en-IN" sz="2800" b="1" dirty="0">
                <a:solidFill>
                  <a:srgbClr val="002060"/>
                </a:solidFill>
                <a:latin typeface="Verdana" panose="020B0804030504040204" pitchFamily="34" charset="0"/>
                <a:ea typeface="+mn-ea"/>
                <a:cs typeface="+mn-cs"/>
              </a:rPr>
              <a:t> </a:t>
            </a:r>
            <a:endParaRPr lang="en-IN" sz="2800" b="1" dirty="0">
              <a:solidFill>
                <a:srgbClr val="002060"/>
              </a:solidFill>
              <a:latin typeface="Verdana" panose="020B0804030504040204" pitchFamily="34" charset="0"/>
              <a:ea typeface="+mn-ea"/>
              <a:cs typeface="+mn-cs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Problem Statement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Communication between hearing-impaired individuals and others is difficult due to the lack of common understanding of sign language. Existing systems rarely support Tamil Sign Language, making interaction challenging. Hence, there is a need for an automated system that can accurately recognize Tamil hand gestures and translate them into readable text.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Motivation</a:t>
            </a:r>
            <a:endParaRPr lang="en-US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charset="0"/>
              <a:buChar char=""/>
            </a:pPr>
            <a:r>
              <a:rPr lang="en-US" sz="24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This project aims to promote inclusive communication for the hearing and speech-impaired community. By using </a:t>
            </a:r>
            <a:r>
              <a:rPr lang="en-US" sz="2400" dirty="0" err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Mediapipe</a:t>
            </a:r>
            <a:r>
              <a:rPr lang="en-US" sz="24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for hand tracking and CNN for gesture classification, the system enables real-time Tamil gesture recognition, helping bridge the communication gap effectively</a:t>
            </a:r>
            <a:r>
              <a:rPr lang="en-US" sz="2400" dirty="0">
                <a:sym typeface="+mn-ea"/>
              </a:rPr>
              <a:t>.</a:t>
            </a:r>
            <a:endParaRPr lang="en-US" sz="2400" dirty="0"/>
          </a:p>
          <a:p>
            <a:pPr marL="0" indent="0" algn="just">
              <a:buNone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8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/>
              <a:t>End Sem</a:t>
            </a:r>
            <a:endParaRPr lang="en-US" alt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Existing System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Sign language recognition currently relies on manual interpretation, and there is no fully automated Tamil Sign Language (TSL) recognition system available.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Existing systems are mainly designed for ASL or ISL, leading to poor performance and lack of support for TSL gestures.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Traditional image-processing approaches depend on hand-crafted features, which gives low accuracy and weak gesture understanding.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Sensor-based or hardware-based solutions (like gloves/Kinect) are expensive, non-portable, and impractical for daily use.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Existing solutions often fail to provide a complete pipeline (gesture → text → speech), making real-time communication difficult.</a:t>
            </a: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IN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To develop a deep learning–based model capable of accurately recognizing Tamil Sign Language (TSL) hand gestures.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To use MediaPipe Hand Landmark extraction and classify gestures with a suitable neural network model.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To convert the recognized gesture into text output for better accessibility and understanding.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To generate speech output from the predicted text to enable real-time communication.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To build a simple, user-friendly system that supports smooth, real-time translation of TSL gestures into meaningful speech.</a:t>
            </a: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749425"/>
            <a:ext cx="10668000" cy="4267200"/>
          </a:xfrm>
        </p:spPr>
        <p:txBody>
          <a:bodyPr/>
          <a:lstStyle/>
          <a:p>
            <a:pPr lvl="0" algn="l">
              <a:buClr>
                <a:srgbClr val="CC0000"/>
              </a:buClr>
              <a:buFont typeface="Wingdings" panose="05000000000000000000" charset="0"/>
              <a:buChar char="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Communication barriers remain a major challenge for the Tamil-speaking deaf and mute community.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lvl="0" algn="l">
              <a:buClr>
                <a:srgbClr val="CC0000"/>
              </a:buClr>
              <a:buFont typeface="Wingdings" panose="05000000000000000000" charset="0"/>
              <a:buChar char="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There is a need for a deep learning solution that can translate Tamil Sign Language (TSL) into spoken or written Tamil.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lvl="0" algn="l">
              <a:buClr>
                <a:srgbClr val="CC0000"/>
              </a:buClr>
              <a:buFont typeface="Wingdings" panose="05000000000000000000" charset="0"/>
              <a:buChar char="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The proposed framework uses MediaPipe Hand Landmark Detection to extract 21 key hand points from TSL gesture images.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lvl="0" algn="l">
              <a:buClr>
                <a:srgbClr val="CC0000"/>
              </a:buClr>
              <a:buFont typeface="Wingdings" panose="05000000000000000000" charset="0"/>
              <a:buChar char="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A Convolutional Neural Network (CNN) processes these spatial features to learn gesture patterns and classify TSL alphabets accurately.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lvl="0" algn="l">
              <a:buClr>
                <a:srgbClr val="CC0000"/>
              </a:buClr>
              <a:buFont typeface="Wingdings" panose="05000000000000000000" charset="0"/>
              <a:buChar char="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The study aims to develop a scalable TSL gesture-to-text and speech system, forming the foundation for future real-time applications that improve communication accessibility.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IN" sz="2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</a:t>
            </a:r>
            <a:r>
              <a:rPr lang="en-US" altLang="en-IN" sz="3200" b="1" dirty="0">
                <a:solidFill>
                  <a:srgbClr val="FF0000"/>
                </a:solidFill>
              </a:rPr>
              <a:t>rchitecture(framework)</a:t>
            </a:r>
            <a:endParaRPr lang="en-US" alt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8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pic>
        <p:nvPicPr>
          <p:cNvPr id="7" name="Picture 6" descr="Pre-Collected Dataset-2"/>
          <p:cNvPicPr>
            <a:picLocks noChangeAspect="1"/>
          </p:cNvPicPr>
          <p:nvPr/>
        </p:nvPicPr>
        <p:blipFill>
          <a:blip r:embed="rId2"/>
          <a:srcRect l="432" t="12690" b="9908"/>
          <a:stretch>
            <a:fillRect/>
          </a:stretch>
        </p:blipFill>
        <p:spPr>
          <a:xfrm>
            <a:off x="1071245" y="1867535"/>
            <a:ext cx="9984105" cy="41522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solidFill>
                  <a:srgbClr val="FF0000"/>
                </a:solidFill>
              </a:rPr>
              <a:t>Module</a:t>
            </a:r>
            <a:endParaRPr lang="en-US" alt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marL="0" indent="0">
              <a:buNone/>
            </a:pPr>
            <a:r>
              <a:rPr lang="en-US" sz="23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Dataset Preparation Module</a:t>
            </a:r>
            <a:endParaRPr lang="en-US" sz="23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Collect and organize Tamil hand-sign images into labeled folders (one class per sign).</a:t>
            </a:r>
            <a:endParaRPr lang="en-US" sz="23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Load images using </a:t>
            </a:r>
            <a:r>
              <a:rPr lang="en-US" sz="23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image_dataset_from_directory</a:t>
            </a:r>
            <a:r>
              <a:rPr lang="en-US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().</a:t>
            </a:r>
            <a:endParaRPr lang="en-US" sz="23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Resize all images to </a:t>
            </a:r>
            <a:r>
              <a:rPr lang="en-US" sz="23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224 × 224</a:t>
            </a:r>
            <a:r>
              <a:rPr lang="en-US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assign labels automatically based on folder names.</a:t>
            </a:r>
            <a:endParaRPr lang="en-US" sz="23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IN" sz="23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Preprocessing &amp; Normalization Module</a:t>
            </a:r>
            <a:endParaRPr lang="en-IN" sz="23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Apply normalization using Rescaling(1./255) to scale pixel values from </a:t>
            </a:r>
            <a:r>
              <a:rPr lang="en-IN" sz="23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[0, 255] → [0, 1]</a:t>
            </a:r>
            <a:r>
              <a:rPr lang="en-IN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IN" sz="23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Optimize pipeline using </a:t>
            </a:r>
            <a:r>
              <a:rPr lang="en-IN" sz="23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cache, shuffle, prefetch</a:t>
            </a:r>
            <a:r>
              <a:rPr lang="en-IN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faster training.</a:t>
            </a:r>
            <a:endParaRPr lang="en-IN" sz="23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Visualize random </a:t>
            </a:r>
            <a:r>
              <a:rPr lang="en-IN" sz="23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preprocessed</a:t>
            </a:r>
            <a:r>
              <a:rPr lang="en-IN" sz="23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samples to verify correct input format.</a:t>
            </a:r>
            <a:endParaRPr lang="en-IN" sz="23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8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" y="1520826"/>
            <a:ext cx="10960100" cy="5200649"/>
          </a:xfrm>
        </p:spPr>
        <p:txBody>
          <a:bodyPr/>
          <a:lstStyle/>
          <a:p>
            <a:fld id="{5AB9ECBD-B4DD-40D5-8D24-9ECCDBB1583E}" type="slidenum">
              <a:rPr lang="en-IN" smtClean="0"/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solidFill>
                  <a:srgbClr val="FF0000"/>
                </a:solidFill>
              </a:rPr>
              <a:t>Module</a:t>
            </a:r>
            <a:endParaRPr lang="en-US" alt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Augmentation Module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Apply augmentation techniques to increase dataset diversity: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charset="0"/>
              <a:buChar char="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Horizontal flip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charset="0"/>
              <a:buChar char="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Rotation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charset="0"/>
              <a:buChar char="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Zoom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charset="0"/>
              <a:buChar char="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Contrast adjustment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charset="0"/>
              <a:buChar char="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Brightness variation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8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2924" y="1752600"/>
            <a:ext cx="10836275" cy="4968875"/>
          </a:xfrm>
        </p:spPr>
        <p:txBody>
          <a:bodyPr/>
          <a:lstStyle/>
          <a:p>
            <a:fld id="{5AB9ECBD-B4DD-40D5-8D24-9ECCDBB1583E}" type="slidenum">
              <a:rPr lang="en-IN" smtClean="0"/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solidFill>
                  <a:srgbClr val="FF0000"/>
                </a:solidFill>
              </a:rPr>
              <a:t>Module</a:t>
            </a:r>
            <a:endParaRPr lang="en-US" alt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Feature Extraction &amp; CNN Model Module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Design and implement a CNN model (or use ResNet50 as backbone).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Extract spatial features from hand-sign images.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Conv2D, 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MaxPooling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Flatten, Dense, and Dropout layers for feature learning.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Classification &amp; Training Module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Train the CNN model on the preprocessed and augmented dataset.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Monitor training curves (loss and accuracy) to analyze model performance.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Save the trained model for later use in prediction.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8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650" y="1752601"/>
            <a:ext cx="10750549" cy="4391024"/>
          </a:xfrm>
        </p:spPr>
        <p:txBody>
          <a:bodyPr/>
          <a:lstStyle/>
          <a:p>
            <a:fld id="{5AB9ECBD-B4DD-40D5-8D24-9ECCDBB1583E}" type="slidenum">
              <a:rPr lang="en-IN" smtClean="0">
                <a:latin typeface="Times New Roman" panose="02020503050405090304" pitchFamily="18" charset="0"/>
                <a:cs typeface="Times New Roman" panose="02020503050405090304" pitchFamily="18" charset="0"/>
              </a:rPr>
            </a:fld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IN" b="1" dirty="0">
                <a:solidFill>
                  <a:srgbClr val="FF0000"/>
                </a:solidFill>
                <a:sym typeface="+mn-ea"/>
              </a:rPr>
              <a:t>Module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 Bold" panose="02020503050405090304" charset="0"/>
                <a:cs typeface="Times New Roman Bold" panose="02020503050405090304" charset="0"/>
              </a:rPr>
              <a:t>Prediction &amp; Output</a:t>
            </a: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Load the trained CNN model.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Take a test image (or webcam frame), preprocess it (resize + normalize), and predict its class.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Map the predicted class to the corresponding Tamil letter/gesture label.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Display the recognized Tamil character as text output (and optionally speech in future work).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r>
              <a:rPr lang="en-US"/>
              <a:t>Zeroth Review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solidFill>
                  <a:srgbClr val="FF0000"/>
                </a:solidFill>
              </a:rPr>
              <a:t>Conclusion</a:t>
            </a:r>
            <a:endParaRPr lang="en-US" alt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Clr>
                <a:srgbClr val="CC0000"/>
              </a:buClr>
              <a:buNone/>
              <a:defRPr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project successfully developed the foundational stages of a Tamil Sign Language–to–Text recognition system using deep learning. Through proper dataset loading, preprocessing, normalization, and augmentation, high-quality inputs were prepared for effective model learning. The implemented CNN demonstrates the ability to recognize and classify Tamil hand gestures, establishing a reliable framework for further system enhancement. Overall, the work provides a strong step toward real-time, accessible communication support for the Tamil deaf and dem 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0" indent="0">
              <a:buClr>
                <a:srgbClr val="CC0000"/>
              </a:buClr>
              <a:buNone/>
              <a:defRPr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community.</a:t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8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8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8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8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8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9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0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5481</Words>
  <Application>WPS Presentation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Verdana</vt:lpstr>
      <vt:lpstr>Times New Roman</vt:lpstr>
      <vt:lpstr>Verdana</vt:lpstr>
      <vt:lpstr>Microsoft YaHei</vt:lpstr>
      <vt:lpstr>汉仪旗黑</vt:lpstr>
      <vt:lpstr>Arial Unicode MS</vt:lpstr>
      <vt:lpstr>Calibri</vt:lpstr>
      <vt:lpstr>Helvetica Neue</vt:lpstr>
      <vt:lpstr>Wingdings</vt:lpstr>
      <vt:lpstr>宋体-简</vt:lpstr>
      <vt:lpstr>Times New Roman Regular</vt:lpstr>
      <vt:lpstr>Times New Roman Bold</vt:lpstr>
      <vt:lpstr>Profile</vt:lpstr>
      <vt:lpstr>PowerPoint 演示文稿</vt:lpstr>
      <vt:lpstr>Problem Statement and Motivation</vt:lpstr>
      <vt:lpstr>Existing System</vt:lpstr>
      <vt:lpstr>Objectives</vt:lpstr>
      <vt:lpstr>Abstract</vt:lpstr>
      <vt:lpstr>Architecture(framework)</vt:lpstr>
      <vt:lpstr>Module</vt:lpstr>
      <vt:lpstr>Module</vt:lpstr>
      <vt:lpstr>Module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NIKILESH S 221801035</cp:lastModifiedBy>
  <cp:revision>11</cp:revision>
  <dcterms:created xsi:type="dcterms:W3CDTF">2025-11-26T15:03:24Z</dcterms:created>
  <dcterms:modified xsi:type="dcterms:W3CDTF">2025-11-26T15:03:24Z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1033-12.1.23143.23143</vt:lpwstr>
  </property>
  <property fmtid="{D5CDD505-2E9C-101B-9397-08002B2CF9AE}" pid="3" name="ICV">
    <vt:lpwstr>CF94834EFD512327BC16276993D39BE2_43</vt:lpwstr>
  </property>
</Properties>
</file>